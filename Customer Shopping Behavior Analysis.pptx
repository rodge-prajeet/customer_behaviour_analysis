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SemiBold"/>
      <p:regular r:id="rId201316"/>
    </p:embeddedFont>
    <p:embeddedFont>
      <p:font typeface="Public Sans Bold"/>
      <p:regular r:id="rId201317"/>
    </p:embeddedFont>
    <p:embeddedFont>
      <p:font typeface="Sora SemiBold"/>
      <p:regular r:id="rId201318"/>
    </p:embeddedFont>
    <p:embeddedFont>
      <p:font typeface="Sora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A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39458"/>
            <a:ext cx="111757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E4EAE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DATA ANALYTICS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1426766"/>
            <a:ext cx="10566136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E4EAE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From 3,900 transactions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E4EAE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to actionable customer insight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780" y="3804841"/>
            <a:ext cx="1056613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E4EAE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customer shopping behavior analysis that connects preparation, analysis, and business decisions.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780" y="5621338"/>
            <a:ext cx="3486757" cy="38100"/>
          </a:xfrm>
          <a:prstGeom prst="roundRect">
            <a:avLst>
              <a:gd name="adj" fmla="val 49999"/>
            </a:avLst>
          </a:prstGeom>
          <a:solidFill>
            <a:srgbClr val="E4EAEF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5910659"/>
            <a:ext cx="111757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4EAE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Python · PostgreSQL · SQL · Power BI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PROJECT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project connects data preparation to business decisions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22197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workflow moved from raw purchases to a decision-ready view of customer behavior.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526209"/>
            <a:ext cx="2628834" cy="2180134"/>
          </a:xfrm>
          <a:prstGeom prst="roundRect">
            <a:avLst>
              <a:gd name="adj" fmla="val 1485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2780209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3578" y="3082429"/>
            <a:ext cx="2120847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3195776"/>
            <a:ext cx="21208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Python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3578" y="3651349"/>
            <a:ext cx="212084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Cleaned the data and engineered features.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390815" y="2526209"/>
            <a:ext cx="2628834" cy="2180134"/>
          </a:xfrm>
          <a:prstGeom prst="roundRect">
            <a:avLst>
              <a:gd name="adj" fmla="val 1485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4809" y="2780209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44809" y="3082429"/>
            <a:ext cx="2120847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644809" y="3195776"/>
            <a:ext cx="21208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4809" y="3651349"/>
            <a:ext cx="212084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Loaded the prepared dataset for analysis.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72046" y="2526209"/>
            <a:ext cx="2628834" cy="2180134"/>
          </a:xfrm>
          <a:prstGeom prst="roundRect">
            <a:avLst>
              <a:gd name="adj" fmla="val 1485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039" y="2780209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26039" y="3082429"/>
            <a:ext cx="2120847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426039" y="3195776"/>
            <a:ext cx="21208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26039" y="3651349"/>
            <a:ext cx="2120847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Answered business questions about customers and products.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953276" y="2526209"/>
            <a:ext cx="2628834" cy="2180134"/>
          </a:xfrm>
          <a:prstGeom prst="roundRect">
            <a:avLst>
              <a:gd name="adj" fmla="val 1485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7270" y="2780209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207270" y="3082429"/>
            <a:ext cx="2120847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9207270" y="3195776"/>
            <a:ext cx="212084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07270" y="3651349"/>
            <a:ext cx="212084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Turned findings into an interactive dashboard.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09585" y="4807942"/>
            <a:ext cx="3555911" cy="13446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26" name="Text 24"/>
          <p:cNvSpPr/>
          <p:nvPr/>
        </p:nvSpPr>
        <p:spPr>
          <a:xfrm>
            <a:off x="838179" y="4969867"/>
            <a:ext cx="309872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3,900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838179" y="5840214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purchases analyzed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17892" y="4807942"/>
            <a:ext cx="3555911" cy="13446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29" name="Text 27"/>
          <p:cNvSpPr/>
          <p:nvPr/>
        </p:nvSpPr>
        <p:spPr>
          <a:xfrm>
            <a:off x="4546486" y="4969867"/>
            <a:ext cx="309872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18</a:t>
            </a:r>
            <a:endParaRPr lang="en-US" sz="5600" dirty="0"/>
          </a:p>
        </p:txBody>
      </p:sp>
      <p:sp>
        <p:nvSpPr>
          <p:cNvPr id="30" name="Text 28"/>
          <p:cNvSpPr/>
          <p:nvPr/>
        </p:nvSpPr>
        <p:spPr>
          <a:xfrm>
            <a:off x="4546486" y="5840214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columns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26199" y="4807942"/>
            <a:ext cx="3555911" cy="13446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32" name="Text 30"/>
          <p:cNvSpPr/>
          <p:nvPr/>
        </p:nvSpPr>
        <p:spPr>
          <a:xfrm>
            <a:off x="8254793" y="4969867"/>
            <a:ext cx="309872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4</a:t>
            </a:r>
            <a:endParaRPr lang="en-US" sz="5600" dirty="0"/>
          </a:p>
        </p:txBody>
      </p:sp>
      <p:sp>
        <p:nvSpPr>
          <p:cNvPr id="33" name="Text 31"/>
          <p:cNvSpPr/>
          <p:nvPr/>
        </p:nvSpPr>
        <p:spPr>
          <a:xfrm>
            <a:off x="8254793" y="5840214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product categories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811994" y="6451898"/>
            <a:ext cx="37970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01 · 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Reliable analysis started with disciplined data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019498"/>
            <a:ext cx="3454314" cy="4228902"/>
          </a:xfrm>
          <a:prstGeom prst="roundRect">
            <a:avLst>
              <a:gd name="adj" fmla="val 937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3578" y="2273498"/>
            <a:ext cx="442207" cy="377825"/>
          </a:xfrm>
          <a:prstGeom prst="roundRect">
            <a:avLst>
              <a:gd name="adj" fmla="val 17142"/>
            </a:avLst>
          </a:prstGeom>
          <a:solidFill>
            <a:srgbClr val="E7EAF0"/>
          </a:solidFill>
          <a:ln/>
        </p:spPr>
      </p:sp>
      <p:sp>
        <p:nvSpPr>
          <p:cNvPr id="6" name="Text 4"/>
          <p:cNvSpPr/>
          <p:nvPr/>
        </p:nvSpPr>
        <p:spPr>
          <a:xfrm>
            <a:off x="971526" y="2354461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3578" y="2789376"/>
            <a:ext cx="29463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Profile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578" y="3244949"/>
            <a:ext cx="29463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Loaded and profiled the dataset with pandas, df.info(), and describe().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68691" y="2019498"/>
            <a:ext cx="3454314" cy="4228902"/>
          </a:xfrm>
          <a:prstGeom prst="roundRect">
            <a:avLst>
              <a:gd name="adj" fmla="val 937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2684" y="2273498"/>
            <a:ext cx="485168" cy="377825"/>
          </a:xfrm>
          <a:prstGeom prst="roundRect">
            <a:avLst>
              <a:gd name="adj" fmla="val 17142"/>
            </a:avLst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4730632" y="2354461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22684" y="2789376"/>
            <a:ext cx="29463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Standardize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22684" y="3244949"/>
            <a:ext cx="294632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Imputed 37 missing review ratings using category medians and standardized columns to snake case.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27797" y="2019498"/>
            <a:ext cx="3454314" cy="4228902"/>
          </a:xfrm>
          <a:prstGeom prst="roundRect">
            <a:avLst>
              <a:gd name="adj" fmla="val 937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1790" y="2273498"/>
            <a:ext cx="491021" cy="377825"/>
          </a:xfrm>
          <a:prstGeom prst="roundRect">
            <a:avLst>
              <a:gd name="adj" fmla="val 17142"/>
            </a:avLst>
          </a:prstGeom>
          <a:solidFill>
            <a:srgbClr val="E7EAF0"/>
          </a:solidFill>
          <a:ln/>
        </p:spPr>
      </p:sp>
      <p:sp>
        <p:nvSpPr>
          <p:cNvPr id="16" name="Text 14"/>
          <p:cNvSpPr/>
          <p:nvPr/>
        </p:nvSpPr>
        <p:spPr>
          <a:xfrm>
            <a:off x="8489738" y="2354461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1790" y="2789376"/>
            <a:ext cx="29463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Engineer &amp; load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1790" y="3244949"/>
            <a:ext cx="2946326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Engineered age_group and purchase_frequency_days, checked discount and promo-code redundancy, and loaded the cleaned data into PostgreSQL.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08125" y="6451898"/>
            <a:ext cx="38357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02 · CUSTOMER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is concentrated in male customers, while subscriptions remain a growth gap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41377"/>
            <a:ext cx="6095848" cy="311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642173"/>
            <a:ext cx="630926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 by gender and subscription status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75936" y="2019498"/>
            <a:ext cx="2026889" cy="14970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7" name="Text 4"/>
          <p:cNvSpPr/>
          <p:nvPr/>
        </p:nvSpPr>
        <p:spPr>
          <a:xfrm>
            <a:off x="7604530" y="2257623"/>
            <a:ext cx="1569701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27%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604530" y="3127970"/>
            <a:ext cx="17982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Subscribers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555221" y="2019498"/>
            <a:ext cx="2026889" cy="1497013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0" name="Text 7"/>
          <p:cNvSpPr/>
          <p:nvPr/>
        </p:nvSpPr>
        <p:spPr>
          <a:xfrm>
            <a:off x="9783815" y="2257623"/>
            <a:ext cx="1569701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73%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9783815" y="3127970"/>
            <a:ext cx="17982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Non-subscribers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75936" y="3643511"/>
            <a:ext cx="4206174" cy="2631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Subscribers represented 27% of customers; non-subscribers represented 73%.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Revenue: $157,890 from male customers versus $75,191 from female customers. Total revenue was $62,645 from subscribers versus $170,436 from non-subscribers.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807629" y="6451898"/>
            <a:ext cx="3840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03 · CUSTOMER SEGMENTS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Loyal customers dominate the base, but discount behavior needs attention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357636"/>
            <a:ext cx="3572877" cy="205928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89808"/>
            <a:ext cx="33442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Loyal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38179" y="3054548"/>
            <a:ext cx="311568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3,116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38179" y="3921323"/>
            <a:ext cx="334428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09359" y="2357636"/>
            <a:ext cx="3572976" cy="205928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9" name="Text 7"/>
          <p:cNvSpPr/>
          <p:nvPr/>
        </p:nvSpPr>
        <p:spPr>
          <a:xfrm>
            <a:off x="4537954" y="2589808"/>
            <a:ext cx="33443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Returning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37954" y="3054548"/>
            <a:ext cx="311578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701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37954" y="3921323"/>
            <a:ext cx="334438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09233" y="2357636"/>
            <a:ext cx="3572877" cy="205928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3" name="Text 11"/>
          <p:cNvSpPr/>
          <p:nvPr/>
        </p:nvSpPr>
        <p:spPr>
          <a:xfrm>
            <a:off x="8237828" y="2589808"/>
            <a:ext cx="33442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7828" y="3054548"/>
            <a:ext cx="311568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83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237828" y="3921323"/>
            <a:ext cx="334428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9585" y="4704894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High-value discount use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585" y="5160466"/>
            <a:ext cx="525766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839 customers used discounts while spending above the average purchase amount.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24442" y="4704894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Discount-dependent products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24442" y="5160466"/>
            <a:ext cx="525766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Hats led at 50.00%, followed by sneakers at 49.66% and coats at 49.07%.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89498" y="4696321"/>
            <a:ext cx="12700" cy="998141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21" name="Text 19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04 · PRODUCT &amp; SERVICE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 and service signals point to clear merchandising opportunities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883991"/>
            <a:ext cx="3454314" cy="2284016"/>
          </a:xfrm>
          <a:prstGeom prst="roundRect">
            <a:avLst>
              <a:gd name="adj" fmla="val 1418"/>
            </a:avLst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3141563"/>
            <a:ext cx="32003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Top-rated products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3578" y="3552646"/>
            <a:ext cx="29463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3.86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3578" y="4113014"/>
            <a:ext cx="29463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Gloves lead, followed by sandals 3.84, boots 3.82, hats 3.80, and skirts 3.78.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8691" y="2883991"/>
            <a:ext cx="3454314" cy="2284016"/>
          </a:xfrm>
          <a:prstGeom prst="roundRect">
            <a:avLst>
              <a:gd name="adj" fmla="val 1418"/>
            </a:avLst>
          </a:prstGeom>
          <a:solidFill>
            <a:srgbClr val="E7EAF0"/>
          </a:solidFill>
          <a:ln/>
        </p:spPr>
      </p:sp>
      <p:sp>
        <p:nvSpPr>
          <p:cNvPr id="9" name="Text 7"/>
          <p:cNvSpPr/>
          <p:nvPr/>
        </p:nvSpPr>
        <p:spPr>
          <a:xfrm>
            <a:off x="4622684" y="3141563"/>
            <a:ext cx="32003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Shipping signal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22684" y="3552646"/>
            <a:ext cx="29463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$60.48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22684" y="4113014"/>
            <a:ext cx="29463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express-shipping order versus $58.46 for standard shipping.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27797" y="2883991"/>
            <a:ext cx="3454314" cy="2284016"/>
          </a:xfrm>
          <a:prstGeom prst="roundRect">
            <a:avLst>
              <a:gd name="adj" fmla="val 1418"/>
            </a:avLst>
          </a:prstGeom>
          <a:solidFill>
            <a:srgbClr val="E7EAF0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790" y="3141563"/>
            <a:ext cx="32003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Top-selling products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81790" y="3479304"/>
            <a:ext cx="294632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Jewelry, sunglasses, belts, blouses, pants, shirts, sandals, shoes, sneakers, jackets, and coats across categories.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34543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05 · DECISION-READY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2844729" cy="273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dashboard turns analysis into a decision-ready 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842663"/>
            <a:ext cx="284472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Power BI makes the findings easier to explore, compare, and explain.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5609034"/>
            <a:ext cx="2844729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Interactive views cover subscription status, gender, category, shipping type, revenue, sales, and age group.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73483" y="609600"/>
            <a:ext cx="2201212" cy="2287588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7" name="Text 5"/>
          <p:cNvSpPr/>
          <p:nvPr/>
        </p:nvSpPr>
        <p:spPr>
          <a:xfrm>
            <a:off x="4902077" y="841772"/>
            <a:ext cx="197261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02077" y="1306512"/>
            <a:ext cx="1744024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3.9K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7027091" y="609600"/>
            <a:ext cx="2201311" cy="2287588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0" name="Text 8"/>
          <p:cNvSpPr/>
          <p:nvPr/>
        </p:nvSpPr>
        <p:spPr>
          <a:xfrm>
            <a:off x="7255686" y="841772"/>
            <a:ext cx="19727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purchase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5686" y="1306512"/>
            <a:ext cx="1744123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$59.76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9380799" y="609600"/>
            <a:ext cx="2201311" cy="2287588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9393" y="841772"/>
            <a:ext cx="19727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review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9393" y="1306512"/>
            <a:ext cx="1744123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3A475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3.75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673483" y="3255645"/>
            <a:ext cx="34543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HIGHEST REVENUE AGE GROUP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73483" y="3596878"/>
            <a:ext cx="3225719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$62,143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673483" y="4463653"/>
            <a:ext cx="345431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Young adults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6391" y="3255645"/>
            <a:ext cx="322571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DECISION LENS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56391" y="3543221"/>
            <a:ext cx="322571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Explore the gap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56391" y="4103588"/>
            <a:ext cx="3225719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filters to connect customer segments, products, subscriptions, and shipping behavior.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121447" y="3252788"/>
            <a:ext cx="12700" cy="1651794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3979" y="6451898"/>
            <a:ext cx="37771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663258"/>
            <a:ext cx="111757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E4EAE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DECISION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80" y="972376"/>
            <a:ext cx="1056613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100" dirty="0">
                <a:solidFill>
                  <a:srgbClr val="E4EAE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I would recommend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780" y="1767086"/>
            <a:ext cx="3318784" cy="275441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Shape 3"/>
          <p:cNvSpPr/>
          <p:nvPr/>
        </p:nvSpPr>
        <p:spPr>
          <a:xfrm>
            <a:off x="1015975" y="1970286"/>
            <a:ext cx="442207" cy="377825"/>
          </a:xfrm>
          <a:prstGeom prst="roundRect">
            <a:avLst>
              <a:gd name="adj" fmla="val 17142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123922" y="2051248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5975" y="2486164"/>
            <a:ext cx="291239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Boost subscriptions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5975" y="2941737"/>
            <a:ext cx="291239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exclusive benefits and stronger conversion messaging.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36356" y="1767086"/>
            <a:ext cx="3318883" cy="275441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0" name="Shape 8"/>
          <p:cNvSpPr/>
          <p:nvPr/>
        </p:nvSpPr>
        <p:spPr>
          <a:xfrm>
            <a:off x="4639551" y="1970286"/>
            <a:ext cx="485168" cy="377825"/>
          </a:xfrm>
          <a:prstGeom prst="roundRect">
            <a:avLst>
              <a:gd name="adj" fmla="val 17142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747498" y="2051248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39551" y="2486164"/>
            <a:ext cx="291249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Reward repeat buyers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9551" y="2941737"/>
            <a:ext cx="291249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Move more customers into the loyal segment.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60032" y="1767086"/>
            <a:ext cx="3318883" cy="2754412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3227" y="1970286"/>
            <a:ext cx="491021" cy="377825"/>
          </a:xfrm>
          <a:prstGeom prst="roundRect">
            <a:avLst>
              <a:gd name="adj" fmla="val 17142"/>
            </a:avLst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174" y="2051248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63227" y="2486164"/>
            <a:ext cx="291249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Balance discount and margin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63227" y="3250307"/>
            <a:ext cx="2912494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discount policy, promote top-rated products, and focus targeting on high-revenue age groups.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12780" y="5598815"/>
            <a:ext cx="3486757" cy="38100"/>
          </a:xfrm>
          <a:prstGeom prst="roundRect">
            <a:avLst>
              <a:gd name="adj" fmla="val 49999"/>
            </a:avLst>
          </a:prstGeom>
          <a:solidFill>
            <a:srgbClr val="E4EAEF"/>
          </a:solidFill>
          <a:ln/>
        </p:spPr>
      </p:sp>
      <p:sp>
        <p:nvSpPr>
          <p:cNvPr id="20" name="Text 18"/>
          <p:cNvSpPr/>
          <p:nvPr/>
        </p:nvSpPr>
        <p:spPr>
          <a:xfrm>
            <a:off x="812780" y="5887264"/>
            <a:ext cx="1117572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E4EAE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analysis ends with choices the business can act on.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2026-10-07T05:19:53Z</dcterms:created>
  <dcterms:modified xsi:type="dcterms:W3CDTF">2026-10-07T05:19:53Z</dcterms:modified>
</cp:coreProperties>
</file>